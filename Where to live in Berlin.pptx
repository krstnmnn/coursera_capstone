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810D-F9E9-4C0D-BCE9-A08D10F70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36851-13B4-4A6A-948F-C1FE1111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D854-88C5-49E4-BF12-1EFE79E3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98276-19F1-4162-8942-F1DD3C79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E1416-AF78-4D7A-8F7C-BE1CC94B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428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F686-7524-4710-A03F-F0927C81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C01E7-E4C1-4A8C-B981-DEF6DFA39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7C1E8-CD4E-4BBC-88A2-D9D16FC9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2942-063E-4752-BD02-5CF6048F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7A299-F8AC-46C4-9B0E-5AFA9BBD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858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9E02-AB43-48D4-B1BD-5AAE54D8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AC923-758F-41A4-9BB5-3B7A0A00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1D1C9-A901-4704-A3D4-F0BD2260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C6553-BA9C-4C65-A90F-B2A1B72A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15F81-E80B-495D-8579-80F37008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046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6379-1760-45D6-851A-256B1F88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99373-6AB0-4200-9C07-1418929BD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3C7F8-C338-49D7-83CB-629D9CE8C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52BAA-8979-4350-ADB6-0C3C6C6F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F9907-A7BD-4493-93BF-7DB35F8F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FA42B-73DF-4ED4-8DAA-94535F4A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345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8F97-EC5F-4547-9CA1-2B08EC54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45BBC-5203-4CD1-B9B5-C536FFA64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10FA5-DA43-443A-AF88-2E690003C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60E19-2181-43B5-8C76-12CD37837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B83FA-B361-46E9-BC4F-E7585E96F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568C3-C84A-4F3E-810C-3C77C6AD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CBC49-CFC1-437E-BAC1-064A7C0D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E2C9D-A5E9-4B53-B6EE-F610CB2E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315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3366-C18C-4DDA-8382-405A3546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B59B8-F9EB-4785-A15F-AE9DFD1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E1B52-C434-4241-A868-BFB226B0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E2C4C-9756-4A23-9CD8-B1FDA85F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900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781F0C-BA74-4246-95F0-F9A17A31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EF403D-8A29-4DC8-B80E-7E1CE285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DFDC0-0F66-48BC-A386-37B67C3C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2235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5D73-3961-4E61-AA12-4B760821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E0A35-211A-4656-ADFC-BE2245037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EAE7B-1085-4113-8F9D-39DE11F0A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F04C7-6B17-4FEA-A10B-37EB9A1BB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D4A33-A31D-4BB6-885E-07FC36E9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F6BF1-F4B9-49B7-A0C7-CC14DE4E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091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C400-AF05-42B2-BFED-EBA5E29E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4FDCC2-0D60-470B-8C6D-AE1AB9732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2066A-DEF3-40BF-A121-01EF181DA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5A808-52DD-45B9-B9A3-58090FE0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495B7-F43C-4496-A32F-C98FE9BE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E0DFF-AD79-4764-9042-206340F0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476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D49A-41F8-4428-87CB-2A296722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87FFC-F9E9-4082-BFAD-971F99AB6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E380-E96D-46CA-A419-31A33805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6FF15-AD7A-4898-A3AF-F7626ED7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7F139-D107-446C-B0A5-5E7DB373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967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FF67B-A0F2-447B-BC9D-C2440C41B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7CD14-C732-4BF6-8003-E16B85DA2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6F16-9CEB-457D-936D-5BB7A2A2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21C5-4C9E-41C1-B5BF-092C9EE5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7FB08-7D6A-486C-8E31-D810C894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962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A9E517-D94D-49C7-B5BC-1309734F2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A4036-30A7-4AB6-B066-DC043037D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BD7F-DC4E-431A-8630-D184A3EA7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E8C99-9D56-47B7-BE6B-53911AE8D745}" type="datetimeFigureOut">
              <a:rPr lang="en-DE" smtClean="0"/>
              <a:t>01/08/2021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A029-6381-4A53-9C35-9C30C924D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FED1D-5CE3-4BBF-9453-8D2845050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4362A-00C3-4A0D-8C9A-DE54C54BBE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6764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A1FE-3F2C-4985-B6B9-06DD7E77D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Where to live in Berlin?</a:t>
            </a:r>
            <a:endParaRPr lang="en-DE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0D356-0A6F-4734-BFA6-F084847BD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Coursera Capstone Project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8968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53C0-237B-4CCD-90EE-C2F681B0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</a:t>
            </a:r>
            <a:endParaRPr lang="en-D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F4B12-35C8-4981-8538-495C5F640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working for a real estate agency as a Data scientist.</a:t>
            </a:r>
          </a:p>
          <a:p>
            <a:r>
              <a:rPr lang="en-US" dirty="0"/>
              <a:t>The agency finds properties for private individuals and public companies according to their needs.</a:t>
            </a:r>
          </a:p>
          <a:p>
            <a:r>
              <a:rPr lang="en-US" dirty="0"/>
              <a:t>This time, a young professional is searching for a flat. He just finished his college degree and wants an area, which has a lot of cafés, bars and clubs.</a:t>
            </a:r>
          </a:p>
          <a:p>
            <a:r>
              <a:rPr lang="en-US" dirty="0"/>
              <a:t>There is a budget constraint: the prices should be moderate at maximum.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52061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0446-8F97-4EC6-BF42-A74B3C68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Description I</a:t>
            </a:r>
            <a:endParaRPr lang="en-D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48275-1175-44B9-BDCD-A2135C9F5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zip codes of Berlin are supplied by Simon Franzen (available via GitHub).</a:t>
            </a:r>
          </a:p>
          <a:p>
            <a:r>
              <a:rPr lang="en-US" dirty="0"/>
              <a:t>The venue data is retrieved from the Foursquare API (number is limited by 100 venues per request).</a:t>
            </a:r>
          </a:p>
          <a:p>
            <a:r>
              <a:rPr lang="en-US" dirty="0"/>
              <a:t>A map is drawn with the Folium package.</a:t>
            </a:r>
          </a:p>
          <a:p>
            <a:r>
              <a:rPr lang="en-US" dirty="0"/>
              <a:t>The rental data is taken from miet-check.de for each zip code by hand.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7477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E994-4063-443C-AF1E-6BB1DF30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Description II</a:t>
            </a:r>
            <a:endParaRPr lang="en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8D445-DE1F-4F35-8331-3972419A6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734" y="2538045"/>
            <a:ext cx="3448531" cy="26292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0536A-3CF3-466F-BAD1-6DB60ABB625A}"/>
              </a:ext>
            </a:extLst>
          </p:cNvPr>
          <p:cNvSpPr txBox="1"/>
          <p:nvPr/>
        </p:nvSpPr>
        <p:spPr>
          <a:xfrm>
            <a:off x="838200" y="1690688"/>
            <a:ext cx="9590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median price is 14.8€ per square meter. The maximum is around 27€ and the lowest around 7€. </a:t>
            </a:r>
          </a:p>
          <a:p>
            <a:r>
              <a:rPr lang="en-US" dirty="0"/>
              <a:t>Most prices are between 11.5€ and 19€.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0576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8132-63EA-49AA-98EC-33371AC7A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 of Berlin – All zip codes</a:t>
            </a:r>
            <a:endParaRPr lang="en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35B7DB-C3D2-4E2F-8F02-289EB95EA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446" y="1825625"/>
            <a:ext cx="8209108" cy="4351338"/>
          </a:xfrm>
        </p:spPr>
      </p:pic>
    </p:spTree>
    <p:extLst>
      <p:ext uri="{BB962C8B-B14F-4D97-AF65-F5344CB8AC3E}">
        <p14:creationId xmlns:p14="http://schemas.microsoft.com/office/powerpoint/2010/main" val="394326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E733-72F4-4A49-8FE3-8B261A07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 Analysis I</a:t>
            </a:r>
            <a:endParaRPr lang="en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6107FB-1D3E-4FDA-8EAE-85797CCE6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471" y="2634474"/>
            <a:ext cx="4001058" cy="26102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02648-A2CE-4871-86AA-0B58261C16A9}"/>
              </a:ext>
            </a:extLst>
          </p:cNvPr>
          <p:cNvSpPr txBox="1"/>
          <p:nvPr/>
        </p:nvSpPr>
        <p:spPr>
          <a:xfrm>
            <a:off x="973667" y="1690688"/>
            <a:ext cx="10819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clustering algorithm, k-means is used. The venue data, as well as the rental data, are our input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Our goal is to have fine segments.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Deducted from the plot, five or eleven segments are appropriate to choose. For the following, </a:t>
            </a:r>
            <a:r>
              <a:rPr lang="en-US" i="1" dirty="0"/>
              <a:t>k=11 </a:t>
            </a:r>
            <a:r>
              <a:rPr lang="en-US" dirty="0"/>
              <a:t>is applied.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4486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F976-3B64-4916-9F3E-E8D5500C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 of Berlin – Clustered Areas</a:t>
            </a:r>
            <a:endParaRPr lang="en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6D1C92-861F-4B1E-93FD-3224E258D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243" y="1690688"/>
            <a:ext cx="7473514" cy="4351338"/>
          </a:xfrm>
        </p:spPr>
      </p:pic>
    </p:spTree>
    <p:extLst>
      <p:ext uri="{BB962C8B-B14F-4D97-AF65-F5344CB8AC3E}">
        <p14:creationId xmlns:p14="http://schemas.microsoft.com/office/powerpoint/2010/main" val="317927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6DAC-233D-48AB-AE02-C43AADBC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 Analysis II: Chosen segments</a:t>
            </a:r>
            <a:endParaRPr lang="en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F0C2C-9E08-4439-AF7A-A9A93CE1C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7004"/>
            <a:ext cx="2876951" cy="391532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CD12BE-9039-4A9E-BD2A-69D49A125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24" y="1834621"/>
            <a:ext cx="2896004" cy="4867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0E6BF-42AE-4C68-97D0-BCA5748C5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901" y="2167004"/>
            <a:ext cx="2905530" cy="40772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C118EA-1B27-4F22-AE7D-14BD3A8136AE}"/>
              </a:ext>
            </a:extLst>
          </p:cNvPr>
          <p:cNvSpPr txBox="1"/>
          <p:nvPr/>
        </p:nvSpPr>
        <p:spPr>
          <a:xfrm>
            <a:off x="838200" y="1506022"/>
            <a:ext cx="1062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 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113F6C-7D31-4AFD-8B81-DBE5A8A14FD3}"/>
              </a:ext>
            </a:extLst>
          </p:cNvPr>
          <p:cNvSpPr txBox="1"/>
          <p:nvPr/>
        </p:nvSpPr>
        <p:spPr>
          <a:xfrm>
            <a:off x="4297524" y="1465289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3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BE1340-CCB1-4BB3-82B9-73592DB6468B}"/>
              </a:ext>
            </a:extLst>
          </p:cNvPr>
          <p:cNvSpPr txBox="1"/>
          <p:nvPr/>
        </p:nvSpPr>
        <p:spPr>
          <a:xfrm>
            <a:off x="7756848" y="1506022"/>
            <a:ext cx="100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7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1298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58D9-9AE4-4AAE-A59C-EFFC12EA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 Analysis II: Chosen segments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8D48-3B5B-4F2E-9F2A-CC087B827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choosing, we are applying the lowest possible budget constraint on these clusters which is 20€ per square meter.</a:t>
            </a:r>
          </a:p>
          <a:p>
            <a:r>
              <a:rPr lang="en-US" dirty="0"/>
              <a:t>With the &lt;20€ budget constraint, every segment but 3 is dropped.</a:t>
            </a:r>
          </a:p>
          <a:p>
            <a:r>
              <a:rPr lang="en-US" dirty="0"/>
              <a:t>According to the box plot, 20€ is between 50% and 75% of the price range which can be considered as a moderate pricing range.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8131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AABD-AB40-4041-991A-85579906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 of Berlin – Chosen segment (3)</a:t>
            </a:r>
            <a:endParaRPr lang="en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83C241-D8DD-484E-BE76-98CAE12ED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403" y="1690688"/>
            <a:ext cx="7785193" cy="4351338"/>
          </a:xfrm>
        </p:spPr>
      </p:pic>
    </p:spTree>
    <p:extLst>
      <p:ext uri="{BB962C8B-B14F-4D97-AF65-F5344CB8AC3E}">
        <p14:creationId xmlns:p14="http://schemas.microsoft.com/office/powerpoint/2010/main" val="242939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564F-277E-405B-97B1-EBF14A6A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D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5650C-490C-40CB-A849-7038D236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As a data scientist, we are suggesting the following zip code areas to search:</a:t>
            </a:r>
          </a:p>
          <a:p>
            <a:r>
              <a:rPr lang="en-US" dirty="0"/>
              <a:t>Prenzlauer Berg (10249) </a:t>
            </a:r>
          </a:p>
          <a:p>
            <a:r>
              <a:rPr lang="en-US" dirty="0" err="1"/>
              <a:t>Rummelsburg</a:t>
            </a:r>
            <a:r>
              <a:rPr lang="en-US" dirty="0"/>
              <a:t> (10317) </a:t>
            </a:r>
          </a:p>
          <a:p>
            <a:r>
              <a:rPr lang="en-US" dirty="0" err="1"/>
              <a:t>Moabit</a:t>
            </a:r>
            <a:r>
              <a:rPr lang="en-US" dirty="0"/>
              <a:t> (10553, 10555, 10557 and 10559) </a:t>
            </a:r>
          </a:p>
          <a:p>
            <a:r>
              <a:rPr lang="en-US" dirty="0"/>
              <a:t>Charlottenburg (10629, 10711, 10719, 10787,  10787, 14057 and 14059)</a:t>
            </a:r>
          </a:p>
          <a:p>
            <a:r>
              <a:rPr lang="en-US" dirty="0" err="1"/>
              <a:t>Schöneberg</a:t>
            </a:r>
            <a:r>
              <a:rPr lang="en-US" dirty="0"/>
              <a:t> (10783, 10823 and 10829)</a:t>
            </a:r>
          </a:p>
          <a:p>
            <a:r>
              <a:rPr lang="en-US" dirty="0" err="1"/>
              <a:t>Neukölln</a:t>
            </a:r>
            <a:r>
              <a:rPr lang="en-US" dirty="0"/>
              <a:t> (12043, 12047 and 12057) </a:t>
            </a:r>
          </a:p>
          <a:p>
            <a:r>
              <a:rPr lang="en-US" dirty="0" err="1"/>
              <a:t>Steglitz</a:t>
            </a:r>
            <a:r>
              <a:rPr lang="en-US" dirty="0"/>
              <a:t> (12167)</a:t>
            </a:r>
          </a:p>
          <a:p>
            <a:r>
              <a:rPr lang="en-US" dirty="0"/>
              <a:t>Alt-</a:t>
            </a:r>
            <a:r>
              <a:rPr lang="en-US" dirty="0" err="1"/>
              <a:t>Treptow</a:t>
            </a:r>
            <a:r>
              <a:rPr lang="en-US" dirty="0"/>
              <a:t> (12435)</a:t>
            </a:r>
          </a:p>
          <a:p>
            <a:r>
              <a:rPr lang="en-US" dirty="0" err="1"/>
              <a:t>Weißensee</a:t>
            </a:r>
            <a:r>
              <a:rPr lang="en-US" dirty="0"/>
              <a:t> (13086)</a:t>
            </a:r>
          </a:p>
          <a:p>
            <a:r>
              <a:rPr lang="en-US" dirty="0"/>
              <a:t>Pankow (13189)</a:t>
            </a:r>
          </a:p>
          <a:p>
            <a:r>
              <a:rPr lang="en-US" dirty="0"/>
              <a:t>Wedding (13359)</a:t>
            </a:r>
          </a:p>
          <a:p>
            <a:r>
              <a:rPr lang="en-US" dirty="0" err="1"/>
              <a:t>Schmargendorf</a:t>
            </a:r>
            <a:r>
              <a:rPr lang="en-US" dirty="0"/>
              <a:t> (14199)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0467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443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Where to live in Berlin?</vt:lpstr>
      <vt:lpstr>Business Problem</vt:lpstr>
      <vt:lpstr>Data Description I</vt:lpstr>
      <vt:lpstr>Data Description II</vt:lpstr>
      <vt:lpstr>Map of Berlin – All zip codes</vt:lpstr>
      <vt:lpstr>Cluster Analysis I</vt:lpstr>
      <vt:lpstr>Map of Berlin – Clustered Areas</vt:lpstr>
      <vt:lpstr>Cluster Analysis II: Chosen segments</vt:lpstr>
      <vt:lpstr>Cluster Analysis II: Chosen segments</vt:lpstr>
      <vt:lpstr>Map of Berlin – Chosen segment (3)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to live in Berlin?</dc:title>
  <dc:creator>user</dc:creator>
  <cp:lastModifiedBy>user</cp:lastModifiedBy>
  <cp:revision>3</cp:revision>
  <dcterms:created xsi:type="dcterms:W3CDTF">2021-08-01T21:08:30Z</dcterms:created>
  <dcterms:modified xsi:type="dcterms:W3CDTF">2021-08-01T22:02:09Z</dcterms:modified>
</cp:coreProperties>
</file>